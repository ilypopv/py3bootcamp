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</p:sldIdLst>
  <p:sldSz cy="5143500" cx="9144000"/>
  <p:notesSz cx="6858000" cy="9144000"/>
  <p:embeddedFontLst>
    <p:embeddedFont>
      <p:font typeface="Montserrat"/>
      <p:regular r:id="rId64"/>
      <p:bold r:id="rId65"/>
      <p:italic r:id="rId66"/>
      <p:boldItalic r:id="rId67"/>
    </p:embeddedFont>
    <p:embeddedFont>
      <p:font typeface="Overpass"/>
      <p:regular r:id="rId68"/>
      <p:bold r:id="rId69"/>
      <p:italic r:id="rId70"/>
      <p:boldItalic r:id="rId71"/>
    </p:embeddedFont>
    <p:embeddedFont>
      <p:font typeface="Source Code Pro"/>
      <p:regular r:id="rId72"/>
      <p:bold r:id="rId73"/>
      <p:italic r:id="rId74"/>
      <p:boldItalic r:id="rId75"/>
    </p:embeddedFont>
    <p:embeddedFont>
      <p:font typeface="Overpass SemiBold"/>
      <p:regular r:id="rId76"/>
      <p:bold r:id="rId77"/>
      <p:italic r:id="rId78"/>
      <p:boldItalic r:id="rId7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B3339C-A9DE-4893-84B2-770CC7A437B1}">
  <a:tblStyle styleId="{7CB3339C-A9DE-4893-84B2-770CC7A437B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SourceCodePro-bold.fntdata"/><Relationship Id="rId72" Type="http://schemas.openxmlformats.org/officeDocument/2006/relationships/font" Target="fonts/SourceCodePro-regular.fntdata"/><Relationship Id="rId31" Type="http://schemas.openxmlformats.org/officeDocument/2006/relationships/slide" Target="slides/slide26.xml"/><Relationship Id="rId75" Type="http://schemas.openxmlformats.org/officeDocument/2006/relationships/font" Target="fonts/SourceCodePro-boldItalic.fntdata"/><Relationship Id="rId30" Type="http://schemas.openxmlformats.org/officeDocument/2006/relationships/slide" Target="slides/slide25.xml"/><Relationship Id="rId74" Type="http://schemas.openxmlformats.org/officeDocument/2006/relationships/font" Target="fonts/SourceCodePro-italic.fntdata"/><Relationship Id="rId33" Type="http://schemas.openxmlformats.org/officeDocument/2006/relationships/slide" Target="slides/slide28.xml"/><Relationship Id="rId77" Type="http://schemas.openxmlformats.org/officeDocument/2006/relationships/font" Target="fonts/OverpassSemiBold-bold.fntdata"/><Relationship Id="rId32" Type="http://schemas.openxmlformats.org/officeDocument/2006/relationships/slide" Target="slides/slide27.xml"/><Relationship Id="rId76" Type="http://schemas.openxmlformats.org/officeDocument/2006/relationships/font" Target="fonts/OverpassSemiBold-regular.fntdata"/><Relationship Id="rId35" Type="http://schemas.openxmlformats.org/officeDocument/2006/relationships/slide" Target="slides/slide30.xml"/><Relationship Id="rId79" Type="http://schemas.openxmlformats.org/officeDocument/2006/relationships/font" Target="fonts/OverpassSemiBold-boldItalic.fntdata"/><Relationship Id="rId34" Type="http://schemas.openxmlformats.org/officeDocument/2006/relationships/slide" Target="slides/slide29.xml"/><Relationship Id="rId78" Type="http://schemas.openxmlformats.org/officeDocument/2006/relationships/font" Target="fonts/OverpassSemiBold-italic.fntdata"/><Relationship Id="rId71" Type="http://schemas.openxmlformats.org/officeDocument/2006/relationships/font" Target="fonts/Overpass-boldItalic.fntdata"/><Relationship Id="rId70" Type="http://schemas.openxmlformats.org/officeDocument/2006/relationships/font" Target="fonts/Overpass-italic.fntdata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font" Target="fonts/Montserrat-regular.fntdata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Montserrat-italic.fntdata"/><Relationship Id="rId21" Type="http://schemas.openxmlformats.org/officeDocument/2006/relationships/slide" Target="slides/slide16.xml"/><Relationship Id="rId65" Type="http://schemas.openxmlformats.org/officeDocument/2006/relationships/font" Target="fonts/Montserrat-bold.fntdata"/><Relationship Id="rId24" Type="http://schemas.openxmlformats.org/officeDocument/2006/relationships/slide" Target="slides/slide19.xml"/><Relationship Id="rId68" Type="http://schemas.openxmlformats.org/officeDocument/2006/relationships/font" Target="fonts/Overpass-regular.fntdata"/><Relationship Id="rId23" Type="http://schemas.openxmlformats.org/officeDocument/2006/relationships/slide" Target="slides/slide18.xml"/><Relationship Id="rId67" Type="http://schemas.openxmlformats.org/officeDocument/2006/relationships/font" Target="fonts/Montserrat-boldItalic.fnt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font" Target="fonts/Overpass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586a91ea0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586a91ea0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586a91ea0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586a91ea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58d8553be_0_5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58d8553be_0_5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0caef2083_0_4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0caef2083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0caef2083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0caef2083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caef2083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caef2083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caef2083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caef2083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caef2083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caef2083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caef2083_0_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caef2083_0_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0caef2083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0caef2083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0caef2083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0caef2083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caef2083_0_4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caef2083_0_4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0caef2083_0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0caef2083_0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caef2083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caef2083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0caef2083_0_4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0caef2083_0_4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0caef2083_0_4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0caef2083_0_4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0caef2083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0caef2083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0caef2083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0caef2083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0caef2083_0_5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0caef2083_0_5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0caef2083_0_5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0caef2083_0_5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0caef2083_0_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0caef2083_0_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0caef2083_0_5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0caef2083_0_5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0caef2083_0_5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0caef2083_0_5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0caef2083_0_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0caef2083_0_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0caef2083_0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0caef2083_0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0caef2083_0_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0caef2083_0_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0caef2083_0_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0caef2083_0_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0caef2083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0caef2083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0caef2083_0_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0caef2083_0_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0caef2083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0caef2083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0caef2083_0_6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0caef2083_0_6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0caef2083_0_7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0caef2083_0_7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0caef2083_0_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0caef2083_0_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1dbb14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1dbb14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1dbb14ee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1dbb14ee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1dbb14ee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1dbb14ee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1dbb14ee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1dbb14ee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0caef2083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0caef2083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1dbb14eee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1dbb14eee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1dd000b3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1dd000b3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dd000b3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dd000b3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1dd000b3d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1dd000b3d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1dd000b3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1dd000b3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dd000b3d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dd000b3d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1dd000b3d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1dd000b3d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1dd000b3d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1dd000b3d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1dd000b3d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1dd000b3d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1dd000b3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1dd000b3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1dd000b3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31dd000b3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1dd000b3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1" name="Google Shape;431;g31dd000b3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1dd000b3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1dd000b3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dd000b3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dd000b3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dd000b3d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dd000b3d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1dd000b3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1dd000b3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dd000b3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dd000b3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1dd000b3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31dd000b3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1dd000b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1dd000b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Object and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 Basics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Basic Data Types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" name="Google Shape;63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this section of the course we will cover the key data types in Python.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your basic building blocks when constructing larger pieces of code.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quickly discuss all of the possible data types, then we’ll have lectures that go into more detail about each one!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1" name="Google Shape;71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8" name="Google Shape;78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9" name="Google Shape;79;p16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5" name="Google Shape;85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" name="Google Shape;86;p17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2" name="Google Shape;92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8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9" name="Google Shape;99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0" name="Google Shape;100;p19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6" name="Google Shape;106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7" name="Google Shape;107;p20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3" name="Google Shape;113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21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22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23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4" name="Google Shape;134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5" name="Google Shape;135;p24"/>
          <p:cNvGraphicFramePr/>
          <p:nvPr/>
        </p:nvGraphicFramePr>
        <p:xfrm>
          <a:off x="275725" y="1011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{7CB3339C-A9DE-4893-84B2-770CC7A437B1}</a:tableStyleId>
              </a:tblPr>
              <a:tblGrid>
                <a:gridCol w="1360875"/>
                <a:gridCol w="830275"/>
                <a:gridCol w="6317475"/>
              </a:tblGrid>
              <a:tr h="3532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Name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Type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Description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D9D2E9"/>
                    </a:solidFill>
                  </a:tcPr>
                </a:tc>
              </a:tr>
              <a:tr h="3315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Integers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Whole numbers, such as: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300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200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2963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Floating point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float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Numbers with a decimal point: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</a:t>
                      </a:r>
                      <a:r>
                        <a:rPr lang="en">
                          <a:latin typeface="Overpass SemiBold"/>
                          <a:ea typeface="Overpass SemiBold"/>
                          <a:cs typeface="Overpass SemiBold"/>
                          <a:sym typeface="Overpass SemiBold"/>
                        </a:rPr>
                        <a:t>2.3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  4.6    100.0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317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Strings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str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characters: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 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'Sammy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'   "2000"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楽しい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list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sequence of objects: 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[10,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"hello",200.3]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Dictionaries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dict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Key:Value pairs: 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"mykey" : "value" , "name" : "Frankie"}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Tuples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tup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Ordered immutable sequence of objects: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(10,"hello",200.3)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set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Unordered collection of unique objects:  </a:t>
                      </a:r>
                      <a:r>
                        <a:rPr b="1" lang="en">
                          <a:solidFill>
                            <a:schemeClr val="dk1"/>
                          </a:solidFill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{"a","b"}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/>
                </a:tc>
              </a:tr>
              <a:tr h="4533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Booleans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bool</a:t>
                      </a:r>
                      <a:endParaRPr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Logical value indicating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True </a:t>
                      </a:r>
                      <a:r>
                        <a:rPr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or </a:t>
                      </a:r>
                      <a:r>
                        <a:rPr b="1" lang="en">
                          <a:latin typeface="Overpass"/>
                          <a:ea typeface="Overpass"/>
                          <a:cs typeface="Overpass"/>
                          <a:sym typeface="Overpass"/>
                        </a:rPr>
                        <a:t>False</a:t>
                      </a:r>
                      <a:endParaRPr b="1">
                        <a:latin typeface="Overpass"/>
                        <a:ea typeface="Overpass"/>
                        <a:cs typeface="Overpass"/>
                        <a:sym typeface="Overpass"/>
                      </a:endParaRPr>
                    </a:p>
                  </a:txBody>
                  <a:tcPr marT="91425" marB="91425" marR="91425" marL="91425"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1" name="Google Shape;141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2" name="Google Shape;14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Numbers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8" name="Google Shape;148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9" name="Google Shape;149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two main number types we will work with: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which are whole numbers.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numbers which are numbers with a decimal.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basic math with Python!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also discuss how to create variables and assign them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Variable Assignments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3" name="Google Shape;163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4" name="Google Shape;164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just saw how to work with numbers, but what do these numbers represent?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would be nice to assign these data types a variable name to easily reference them later on in our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Source Code Pro"/>
              <a:buChar char="○"/>
            </a:pPr>
            <a:r>
              <a:rPr b="1" lang="en" sz="2900">
                <a:solidFill>
                  <a:srgbClr val="434343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my_dogs = 2</a:t>
            </a:r>
            <a:endParaRPr b="1" sz="2900">
              <a:solidFill>
                <a:srgbClr val="43434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pic>
        <p:nvPicPr>
          <p:cNvPr descr="watermark.jpg" id="171" name="Google Shape;171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2" name="Google Shape;172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Names can not start with a number.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can be no spaces in the name, use _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Can't use any of these symbols :'",&lt;&gt;/?|\()!@#$%^&amp;*~-+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9" name="Google Shape;179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0" name="Google Shape;18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Rules for variable names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It's considered best practice (PEP8) that names are lowercase.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Avoid using words that have special meaning in Python like "list" and "str"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7" name="Google Shape;187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8" name="Google Shape;18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3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Python uses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Dynamic Typing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you can reassign variables to different data types.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makes Python very flexible in assigning data types, this is different than other languages that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“Statically-Typed”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5" name="Google Shape;195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6" name="Google Shape;19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3" name="Google Shape;203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4" name="Google Shape;204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 rot="674">
            <a:off x="2048725" y="3008051"/>
            <a:ext cx="3061200" cy="144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38761D"/>
                </a:solidFill>
                <a:latin typeface="Overpass"/>
                <a:ea typeface="Overpass"/>
                <a:cs typeface="Overpass"/>
                <a:sym typeface="Overpass"/>
              </a:rPr>
              <a:t>This is okay in Python!</a:t>
            </a:r>
            <a:endParaRPr b="1" sz="3000">
              <a:solidFill>
                <a:srgbClr val="38761D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3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2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my_dogs = [ “Sammy” ,  “Frankie” 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2" name="Google Shape;212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3" name="Google Shape;213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4"/>
          <p:cNvSpPr txBox="1"/>
          <p:nvPr/>
        </p:nvSpPr>
        <p:spPr>
          <a:xfrm rot="674">
            <a:off x="2048725" y="3008060"/>
            <a:ext cx="3061200" cy="15912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ERROR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0000"/>
                </a:solidFill>
                <a:latin typeface="Overpass"/>
                <a:ea typeface="Overpass"/>
                <a:cs typeface="Overpass"/>
                <a:sym typeface="Overpass"/>
              </a:rPr>
              <a:t>in other Languages!</a:t>
            </a:r>
            <a:endParaRPr b="1" sz="3000">
              <a:solidFill>
                <a:srgbClr val="FF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3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1C4587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1;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my_dog = “Sammy” ;  </a:t>
            </a:r>
            <a:r>
              <a:rPr b="1" lang="en" sz="2900">
                <a:solidFill>
                  <a:srgbClr val="990000"/>
                </a:solidFill>
                <a:latin typeface="Montserrat"/>
                <a:ea typeface="Montserrat"/>
                <a:cs typeface="Montserrat"/>
                <a:sym typeface="Montserrat"/>
              </a:rPr>
              <a:t>//RESULTS IN ERROR</a:t>
            </a:r>
            <a:endParaRPr b="1" sz="2900">
              <a:solidFill>
                <a:srgbClr val="99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1" name="Google Shape;221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2" name="Google Shape;222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5"/>
          <p:cNvSpPr txBox="1"/>
          <p:nvPr/>
        </p:nvSpPr>
        <p:spPr>
          <a:xfrm rot="646">
            <a:off x="791700" y="3429150"/>
            <a:ext cx="6388200" cy="11703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Example of Static Typing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0B5394"/>
                </a:solidFill>
                <a:latin typeface="Overpass"/>
                <a:ea typeface="Overpass"/>
                <a:cs typeface="Overpass"/>
                <a:sym typeface="Overpass"/>
              </a:rPr>
              <a:t>(C++)</a:t>
            </a:r>
            <a:endParaRPr b="1" sz="3000">
              <a:solidFill>
                <a:srgbClr val="0B5394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3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easy to work with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Faster development time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 of Dynamic Typing: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May result in bugs for unexpected data types!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need to be aware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type()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0" name="Google Shape;230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1" name="Google Shape;231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7" name="Google Shape;237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8" name="Google Shape;238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4" name="Google Shape;244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5" name="Google Shape;245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1" name="Google Shape;251;p3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 are sequences of characters, using the syntax of either single  quotes or double quotes: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'hello'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"Hello"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I don't do that "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2" name="Google Shape;252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3" name="Google Shape;253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9" name="Google Shape;259;p4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Because strings are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it means we can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to grab sub-sections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notation uses [ ] notation after the string (or variable assigned the string).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Indexing allows you to grab a single character from the string...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0" name="Google Shape;260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1" name="Google Shape;261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8" name="Google Shape;268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9" name="Google Shape;26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5" name="Google Shape;275;p4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actions use [ ] square brackets and a number index to indicate positions of what you wish to grab.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Character :    h     e     l       l     o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				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   Index :     0     1     2      3    4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Reverse Index:    0    -4    -3   -2    -1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6" name="Google Shape;276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7" name="Google Shape;277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4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1" name="Google Shape;291;p4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Slicing allows you to grab a subsection of multiple characters, a “slice” of the string.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has the following syntax: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[start:stop:step]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start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a numerical index for the slice start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is the index you will go up to (but not include)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step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is the size of the “jump” you take.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2" name="Google Shape;292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3" name="Google Shape;293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explore these concepts!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9" name="Google Shape;299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0" name="Google Shape;30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Indexing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Slicing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Properties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and Methods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3" name="Google Shape;313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4" name="Google Shape;31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8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String Formatting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for Printing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4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Often you will want to “inject” a variable into your string for printing. For example: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my_name = “Jose”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print(“Hello ” + my_name)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multiple ways to format strings for printing variables in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known as string interpolation.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8" name="Google Shape;328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9" name="Google Shape;32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two methods for this: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.format()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method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f-strings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(formatted string literals)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6" name="Google Shape;336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7" name="Google Shape;337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Lists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3" name="Google Shape;343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4" name="Google Shape;344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are ordered sequences that can hold a variety of object types.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They use [] brackets and commas to separate objects in the list.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[1,2,3,4,5] 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 support indexing and slicing. Lists can be nested and also have a variety of useful methods that can be called off of them.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1" name="Google Shape;351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2" name="Google Shape;352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5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Dictionaries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5" name="Google Shape;365;p5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are unordered mappings for storing objects. Previously we saw how lists store objects in an ordered sequence, dictionaries use  a key-value pairing instead.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key-value pair allows users to quickly grab objects without needing to know an index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6" name="Google Shape;366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67" name="Google Shape;367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55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 use curly braces and colons to signify the keys and their associated values.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{'key1':'value1','key2':'value2'}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when to choose a list and when to choose a dictionary?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4" name="Google Shape;374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5" name="Google Shape;375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1" name="Google Shape;381;p5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Dictionaries: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Objects retrieved by key name.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Unordered and can not be sorted.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 Objects retrieved by location.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Ordered Sequence can be indexed or sliced.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2" name="Google Shape;382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83" name="Google Shape;383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7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Tuples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89" name="Google Shape;389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0" name="Google Shape;39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6" name="Google Shape;396;p5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very similar to lists. However they have one key difference -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immutability.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an element is inside a tuple, it can not be reassigned.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 use parenthesis: 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(1,2,3)</a:t>
            </a:r>
            <a:endParaRPr b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7" name="Google Shape;397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8" name="Google Shape;398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9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Sets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4" name="Google Shape;404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5" name="Google Shape;405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1" name="Google Shape;411;p60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Sets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unordered collections of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unique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elements.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Meaning there can only be one representative of the same object.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see some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2" name="Google Shape;412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3" name="Google Shape;413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1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Booleans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9" name="Google Shape;419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0" name="Google Shape;420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62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Booleans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are operators that allow you to convey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True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False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statements.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These are very important later on when we deal with control flow and logic!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27" name="Google Shape;427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28" name="Google Shape;428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3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Files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4" name="Google Shape;434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5" name="Google Shape;435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1" name="Google Shape;441;p64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 we finish this section, let’s quickly go over how to perform simple I/O with basic .txt files.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We’ll also discuss file paths on your computer.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2" name="Google Shape;442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43" name="Google Shape;443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5"/>
          <p:cNvSpPr txBox="1"/>
          <p:nvPr>
            <p:ph type="ctrTitle"/>
          </p:nvPr>
        </p:nvSpPr>
        <p:spPr>
          <a:xfrm>
            <a:off x="345450" y="2301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49" name="Google Shape;449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0" name="Google Shape;450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6" name="Google Shape;456;p66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have a quick overview of your first test.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download the notebooks from GitHub or as a zip file from the Course Overview Lecture.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7" name="Google Shape;457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58" name="Google Shape;458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7"/>
          <p:cNvSpPr txBox="1"/>
          <p:nvPr>
            <p:ph type="ctrTitle"/>
          </p:nvPr>
        </p:nvSpPr>
        <p:spPr>
          <a:xfrm>
            <a:off x="311700" y="2652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Objects and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Data Structures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Assessment Test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68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Numbers: Store numerical information and come in two forms: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Integers - Whole Numbers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Floating Point - Numbers with a decimal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2" name="Google Shape;472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3" name="Google Shape;473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Complete Python 3 Bootcamp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9" name="Google Shape;479;p69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Ordered sequence of characters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Lists: Ordered sequence of objects (mutable)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Tuples: Ordered sequence of objects (immutable)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Dictionary: Key-Value pairing that is unordered.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0" name="Google Shape;480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1" name="Google Shape;481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0"/>
          <p:cNvSpPr txBox="1"/>
          <p:nvPr>
            <p:ph type="ctrTitle"/>
          </p:nvPr>
        </p:nvSpPr>
        <p:spPr>
          <a:xfrm>
            <a:off x="311700" y="1545450"/>
            <a:ext cx="8520600" cy="140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Python Documentation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7" name="Google Shape;487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8" name="Google Shape;488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